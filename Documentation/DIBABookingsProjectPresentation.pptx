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E203B"/>
                </a:solidFill>
              </a:defRPr>
            </a:pPr>
            <a:r>
              <a:t>DIBA 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97A"/>
                </a:solidFill>
              </a:defRPr>
            </a:pPr>
            <a:r>
              <a:t>Centralised Venue Booking &amp; Management System | Nelson Mandela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97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0E203B"/>
                </a:solidFill>
              </a:defRPr>
            </a:pPr>
            <a: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58697A"/>
                </a:solidFill>
              </a:defRPr>
            </a:pPr>
            <a:r>
              <a:t>Venue discovery  •  Live availability  •  Booking approvals  •  Support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800600"/>
            <a:ext cx="5212080" cy="658368"/>
          </a:xfrm>
          <a:prstGeom prst="round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NMU venue booking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E203B"/>
                </a:solidFill>
              </a:defRPr>
            </a:pPr>
            <a:r>
              <a:t>01  |  Introduction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97A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7899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E203B"/>
                </a:solidFill>
              </a:defRPr>
            </a:pPr>
            <a:r>
              <a:t>•  Venue bookings currently involve different channels for internal and external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7899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E203B"/>
                </a:solidFill>
              </a:defRPr>
            </a:pPr>
            <a:r>
              <a:t>•  Availability information can be fragmented or outdated.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107899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E203B"/>
                </a:solidFill>
              </a:defRPr>
            </a:pPr>
            <a:r>
              <a:t>•  Manual emails, calls and approvals delay confirmations.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107899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E203B"/>
                </a:solidFill>
              </a:defRPr>
            </a:pPr>
            <a:r>
              <a:t>•  Coordinating AV, catering, parking, cleaning and security adds complexity.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E203B"/>
                </a:solidFill>
              </a:defRPr>
            </a:pPr>
            <a:r>
              <a:t>02  |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97A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7899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E203B"/>
                </a:solidFill>
              </a:defRPr>
            </a:pPr>
            <a:r>
              <a:t>•  One web portal for students, staff and external organisers.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7899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E203B"/>
                </a:solidFill>
              </a:defRPr>
            </a:pPr>
            <a:r>
              <a:t>•  Search venues and view up-to-date availability in one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107899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E203B"/>
                </a:solidFill>
              </a:defRPr>
            </a:pPr>
            <a:r>
              <a:t>•  Submit requests, track status and receive booking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107899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E203B"/>
                </a:solidFill>
              </a:defRPr>
            </a:pPr>
            <a:r>
              <a:t>•  Allow venue administrators to manage spaces, approvals and service requests.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E203B"/>
                </a:solidFill>
              </a:defRPr>
            </a:pPr>
            <a:r>
              <a:t>03  |  Objectives &amp;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97A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7899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E203B"/>
                </a:solidFill>
              </a:defRPr>
            </a:pPr>
            <a:r>
              <a:t>•  Objective 1: Centralise venue information and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9152"/>
            <a:ext cx="107899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E203B"/>
                </a:solidFill>
              </a:defRPr>
            </a:pPr>
            <a:r>
              <a:t>•  Objective 2: Reduce booking conflicts with availability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9544"/>
            <a:ext cx="107899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E203B"/>
                </a:solidFill>
              </a:defRPr>
            </a:pPr>
            <a:r>
              <a:t>•  Objective 3: Streamline approval and status tracking.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59935"/>
            <a:ext cx="107899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E203B"/>
                </a:solidFill>
              </a:defRPr>
            </a:pPr>
            <a:r>
              <a:t>•  Objective 4: Coordinate optional event support services.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10328"/>
            <a:ext cx="107899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E203B"/>
                </a:solidFill>
              </a:defRPr>
            </a:pPr>
            <a:r>
              <a:t>•  Plan: Requirements → Database &amp; UI design → Development → Testing → Demonstration.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E203B"/>
                </a:solidFill>
              </a:defRPr>
            </a:pPr>
            <a:r>
              <a:t>04  |  Hardware &amp; software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97A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A9A5"/>
                </a:solidFill>
              </a:defRPr>
            </a:pPr>
            <a:r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E203B"/>
                </a:solidFill>
              </a:defRPr>
            </a:pPr>
            <a:r>
              <a:t>•  Laptop / desktop computer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43784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E203B"/>
                </a:solidFill>
              </a:defRPr>
            </a:pPr>
            <a:r>
              <a:t>•  Internet connectivity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3016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E203B"/>
                </a:solidFill>
              </a:defRPr>
            </a:pPr>
            <a:r>
              <a:t>•  Server or cloud hosting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A9A5"/>
                </a:solidFill>
              </a:defRPr>
            </a:pPr>
            <a:r>
              <a:t>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E203B"/>
                </a:solidFill>
              </a:defRPr>
            </a:pPr>
            <a:r>
              <a:t>•  Web browser (Chrome / Edge)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43784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E203B"/>
                </a:solidFill>
              </a:defRPr>
            </a:pPr>
            <a:r>
              <a:t>•  React frontend with Bootstrap /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30168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E203B"/>
                </a:solidFill>
              </a:defRPr>
            </a:pPr>
            <a:r>
              <a:t>•  Backend API and relational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16552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E203B"/>
                </a:solidFill>
              </a:defRPr>
            </a:pPr>
            <a:r>
              <a:t>•  Node.js, npm, IDE and 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8697A"/>
                </a:solidFill>
              </a:defRPr>
            </a:pPr>
            <a:r>
              <a:t>Specific backend/database products should be confirmed against the final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E203B"/>
                </a:solidFill>
              </a:defRPr>
            </a:pPr>
            <a:r>
              <a:t>05  |  High-level use-case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97A"/>
                </a:solidFill>
              </a:defRPr>
            </a:pPr>
            <a:r>
              <a:t>Conceptual overview of intended user types and system interactions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97A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920240" cy="731520"/>
          </a:xfrm>
          <a:prstGeom prst="round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Event organiser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1920240" cy="731520"/>
          </a:xfrm>
          <a:prstGeom prst="round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Venue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926080"/>
            <a:ext cx="1920240" cy="731520"/>
          </a:xfrm>
          <a:prstGeom prst="round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Support staff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91640"/>
            <a:ext cx="4846320" cy="594360"/>
          </a:xfrm>
          <a:prstGeom prst="roundRect">
            <a:avLst/>
          </a:prstGeom>
          <a:solidFill>
            <a:srgbClr val="0E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Search venues / check availability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560320"/>
            <a:ext cx="4846320" cy="594360"/>
          </a:xfrm>
          <a:prstGeom prst="roundRect">
            <a:avLst/>
          </a:prstGeom>
          <a:solidFill>
            <a:srgbClr val="0E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Submit &amp; track booking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429000"/>
            <a:ext cx="4846320" cy="594360"/>
          </a:xfrm>
          <a:prstGeom prst="roundRect">
            <a:avLst/>
          </a:prstGeom>
          <a:solidFill>
            <a:srgbClr val="0E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Review / approve / reject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297680"/>
            <a:ext cx="4846320" cy="594360"/>
          </a:xfrm>
          <a:prstGeom prst="roundRect">
            <a:avLst/>
          </a:prstGeom>
          <a:solidFill>
            <a:srgbClr val="0E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Manage venues &amp; availability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5166360"/>
            <a:ext cx="4846320" cy="594360"/>
          </a:xfrm>
          <a:prstGeom prst="roundRect">
            <a:avLst/>
          </a:prstGeom>
          <a:solidFill>
            <a:srgbClr val="0E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Coordinate requested services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468880" y="1984248"/>
            <a:ext cx="1188720" cy="210312"/>
          </a:xfrm>
          <a:prstGeom prst="line">
            <a:avLst/>
          </a:prstGeom>
          <a:ln w="20320">
            <a:solidFill>
              <a:srgbClr val="58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68880" y="2194560"/>
            <a:ext cx="1188720" cy="658368"/>
          </a:xfrm>
          <a:prstGeom prst="line">
            <a:avLst/>
          </a:prstGeom>
          <a:ln w="20320">
            <a:solidFill>
              <a:srgbClr val="58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468880" y="3730752"/>
            <a:ext cx="1188720" cy="749808"/>
          </a:xfrm>
          <a:prstGeom prst="line">
            <a:avLst/>
          </a:prstGeom>
          <a:ln w="20320">
            <a:solidFill>
              <a:srgbClr val="58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68880" y="4480560"/>
            <a:ext cx="1188720" cy="118872"/>
          </a:xfrm>
          <a:prstGeom prst="line">
            <a:avLst/>
          </a:prstGeom>
          <a:ln w="20320">
            <a:solidFill>
              <a:srgbClr val="58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503920" y="3291840"/>
            <a:ext cx="1097280" cy="2167128"/>
          </a:xfrm>
          <a:prstGeom prst="line">
            <a:avLst/>
          </a:prstGeom>
          <a:ln w="20320">
            <a:solidFill>
              <a:srgbClr val="58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E203B"/>
                </a:solidFill>
              </a:defRPr>
            </a:pPr>
            <a:r>
              <a:t>06  |  Relational database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97A"/>
                </a:solidFill>
              </a:defRPr>
            </a:pPr>
            <a:r>
              <a:t>Proposed logical model — refine to match your implemented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97A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063240" cy="530352"/>
          </a:xfrm>
          <a:prstGeom prst="round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41448"/>
            <a:ext cx="2880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E203B"/>
                </a:solidFill>
              </a:defRPr>
            </a:pPr>
            <a:r>
              <a:t>UserID (PK)</a:t>
            </a:r>
          </a:p>
          <a:p>
            <a:pPr>
              <a:spcAft>
                <a:spcPts val="1200"/>
              </a:spcAft>
              <a:defRPr sz="1600" b="0">
                <a:solidFill>
                  <a:srgbClr val="0E203B"/>
                </a:solidFill>
              </a:defRPr>
            </a:pPr>
            <a:r>
              <a:t>Name, Email,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828800"/>
            <a:ext cx="3063240" cy="530352"/>
          </a:xfrm>
          <a:prstGeom prst="round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VENUES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2441448"/>
            <a:ext cx="2880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E203B"/>
                </a:solidFill>
              </a:defRPr>
            </a:pPr>
            <a:r>
              <a:t>VenueID (PK)</a:t>
            </a:r>
          </a:p>
          <a:p>
            <a:pPr>
              <a:spcAft>
                <a:spcPts val="1200"/>
              </a:spcAft>
              <a:defRPr sz="1600" b="0">
                <a:solidFill>
                  <a:srgbClr val="0E203B"/>
                </a:solidFill>
              </a:defRPr>
            </a:pPr>
            <a:r>
              <a:t>Name, Capacity, 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4114800"/>
            <a:ext cx="3063240" cy="530352"/>
          </a:xfrm>
          <a:prstGeom prst="round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BOOKINGS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4727448"/>
            <a:ext cx="2880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E203B"/>
                </a:solidFill>
              </a:defRPr>
            </a:pPr>
            <a:r>
              <a:t>BookingID (PK)</a:t>
            </a:r>
          </a:p>
          <a:p>
            <a:pPr>
              <a:spcAft>
                <a:spcPts val="1200"/>
              </a:spcAft>
              <a:defRPr sz="1600" b="0">
                <a:solidFill>
                  <a:srgbClr val="0E203B"/>
                </a:solidFill>
              </a:defRPr>
            </a:pPr>
            <a:r>
              <a:t>UserID (FK), VenueID (FK)</a:t>
            </a:r>
          </a:p>
          <a:p>
            <a:pPr>
              <a:spcAft>
                <a:spcPts val="1200"/>
              </a:spcAft>
              <a:defRPr sz="1600" b="0">
                <a:solidFill>
                  <a:srgbClr val="0E203B"/>
                </a:solidFill>
              </a:defRPr>
            </a:pPr>
            <a:r>
              <a:t>StartTime, EndTime,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063240" cy="530352"/>
          </a:xfrm>
          <a:prstGeom prst="round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441448"/>
            <a:ext cx="2880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E203B"/>
                </a:solidFill>
              </a:defRPr>
            </a:pPr>
            <a:r>
              <a:t>ServiceID (PK)</a:t>
            </a:r>
          </a:p>
          <a:p>
            <a:pPr>
              <a:spcAft>
                <a:spcPts val="1200"/>
              </a:spcAft>
              <a:defRPr sz="1600" b="0">
                <a:solidFill>
                  <a:srgbClr val="0E203B"/>
                </a:solidFill>
              </a:defRPr>
            </a:pPr>
            <a:r>
              <a:t>Name, Description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114800"/>
            <a:ext cx="3063240" cy="530352"/>
          </a:xfrm>
          <a:prstGeom prst="round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BOOKING_SERVICES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4727448"/>
            <a:ext cx="2880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E203B"/>
                </a:solidFill>
              </a:defRPr>
            </a:pPr>
            <a:r>
              <a:t>BookingID (FK)</a:t>
            </a:r>
          </a:p>
          <a:p>
            <a:pPr>
              <a:spcAft>
                <a:spcPts val="1200"/>
              </a:spcAft>
              <a:defRPr sz="1600" b="0">
                <a:solidFill>
                  <a:srgbClr val="0E203B"/>
                </a:solidFill>
              </a:defRPr>
            </a:pPr>
            <a:r>
              <a:t>ServiceID (FK)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94560" y="3200400"/>
            <a:ext cx="2286000" cy="914400"/>
          </a:xfrm>
          <a:prstGeom prst="line">
            <a:avLst/>
          </a:prstGeom>
          <a:ln w="20320">
            <a:solidFill>
              <a:srgbClr val="58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69280" y="3200400"/>
            <a:ext cx="0" cy="914400"/>
          </a:xfrm>
          <a:prstGeom prst="line">
            <a:avLst/>
          </a:prstGeom>
          <a:ln w="20320">
            <a:solidFill>
              <a:srgbClr val="58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2640" y="3200400"/>
            <a:ext cx="0" cy="914400"/>
          </a:xfrm>
          <a:prstGeom prst="line">
            <a:avLst/>
          </a:prstGeom>
          <a:ln w="20320">
            <a:solidFill>
              <a:srgbClr val="58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23760" y="4663440"/>
            <a:ext cx="1005840" cy="0"/>
          </a:xfrm>
          <a:prstGeom prst="line">
            <a:avLst/>
          </a:prstGeom>
          <a:ln w="20320">
            <a:solidFill>
              <a:srgbClr val="58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E203B"/>
                </a:solidFill>
              </a:defRPr>
            </a:pPr>
            <a:r>
              <a:t>07  |  System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97A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7899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0E203B"/>
                </a:solidFill>
              </a:defRPr>
            </a:pPr>
            <a:r>
              <a:t>•  1. Open the organiser dashboard and search for a 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9152"/>
            <a:ext cx="107899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0E203B"/>
                </a:solidFill>
              </a:defRPr>
            </a:pPr>
            <a:r>
              <a:t>•  2. View venue details and available dates/times.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9544"/>
            <a:ext cx="107899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0E203B"/>
                </a:solidFill>
              </a:defRPr>
            </a:pPr>
            <a:r>
              <a:t>•  3. Submit a booking request and optional support needs.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59935"/>
            <a:ext cx="107899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0E203B"/>
                </a:solidFill>
              </a:defRPr>
            </a:pPr>
            <a:r>
              <a:t>•  4. Switch to staff/admin dashboard to review the 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10328"/>
            <a:ext cx="107899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0E203B"/>
                </a:solidFill>
              </a:defRPr>
            </a:pPr>
            <a:r>
              <a:t>•  5. Approve or reject, then show the updated booking status.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8697A"/>
                </a:solidFill>
              </a:defRPr>
            </a:pPr>
            <a:r>
              <a:t>Live demo: replace this slide with screenshots if network or localhost is unavailable.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E203B"/>
                </a:solidFill>
              </a:defRPr>
            </a:pPr>
            <a:r>
              <a:t>08  |  Expected impact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97A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78992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E203B"/>
                </a:solidFill>
              </a:defRPr>
            </a:pPr>
            <a:r>
              <a:t>•  Simpler experience for students, staff and external organisers.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78992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E203B"/>
                </a:solidFill>
              </a:defRPr>
            </a:pPr>
            <a:r>
              <a:t>•  Greater transparency over venue availability and booking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65576"/>
            <a:ext cx="1078992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E203B"/>
                </a:solidFill>
              </a:defRPr>
            </a:pPr>
            <a:r>
              <a:t>•  Less manual coordination and fewer conflicting requests.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43983"/>
            <a:ext cx="1078992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E203B"/>
                </a:solidFill>
              </a:defRPr>
            </a:pPr>
            <a:r>
              <a:t>•  A scalable foundation for NMU event and venue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715000"/>
            <a:ext cx="5760720" cy="594360"/>
          </a:xfrm>
          <a:prstGeom prst="roundRect">
            <a:avLst/>
          </a:prstGeom>
          <a:solidFill>
            <a:srgbClr val="00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520</Words>
  <Application>Microsoft Office PowerPoint</Application>
  <PresentationFormat>Custom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Sena Mhlaba</dc:creator>
  <cp:keywords/>
  <dc:description>generated using python-pptx</dc:description>
  <cp:lastModifiedBy>Sena Mhlaba</cp:lastModifiedBy>
  <cp:revision>1</cp:revision>
  <dcterms:created xsi:type="dcterms:W3CDTF">2013-01-27T09:14:16Z</dcterms:created>
  <dcterms:modified xsi:type="dcterms:W3CDTF">2026-10-16T21:36:17Z</dcterms:modified>
  <cp:category/>
</cp:coreProperties>
</file>